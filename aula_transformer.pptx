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474720"/>
            <a:ext cx="2560320" cy="256032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1645920" cy="1645920"/>
          </a:xfrm>
          <a:prstGeom prst="ellipse">
            <a:avLst/>
          </a:prstGeom>
          <a:solidFill>
            <a:srgbClr val="00796B">
              <a:alpha val="15000"/>
            </a:srgbClr>
          </a:solidFill>
          <a:ln w="12700">
            <a:solidFill>
              <a:srgbClr val="00796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 · FUNDAMENTOS DE 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arquitetura que revolucionou a IA moderna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4114800" cy="59436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para Graduação em Sistemas de Informação  · 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50292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Transformer?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das RNNs e a motivação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4688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68880"/>
            <a:ext cx="50292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688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Encoder, Decoder e o fluxo de dados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03320"/>
            <a:ext cx="50292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7033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Pos. Encoding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palavras com contexto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34440"/>
            <a:ext cx="50292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2344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1737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Transformer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68880"/>
            <a:ext cx="50292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4688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560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4924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perspectivas em paralelo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703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03320"/>
            <a:ext cx="50292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7033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7947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&amp; Add+Norm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9240" y="4206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 estabilidade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Transformer?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50292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RNN (Antigo)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token por token, em sequência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 contexto distante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lento (não paralelo)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Frase: "O gato... acordou" — perde o sujeito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097280"/>
            <a:ext cx="393192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Transformer (Novo)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todos os tokens em paralelo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qualquer posição diretamente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muito mais rápido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relações de longa distância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651760"/>
            <a:ext cx="512064" cy="274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4279392" y="2578608"/>
            <a:ext cx="585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A1628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6360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Vaswani et al., 2017  ·  Google Brain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Arquitetura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36576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29184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291840" cy="5029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291840" cy="5029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29184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097280"/>
            <a:ext cx="3657600" cy="36576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1097280"/>
            <a:ext cx="3657600" cy="4572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03520" y="1691640"/>
            <a:ext cx="329184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03520" y="2377440"/>
            <a:ext cx="3291840" cy="5029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Attention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3063240"/>
            <a:ext cx="3291840" cy="5029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0" y="3749040"/>
            <a:ext cx="329184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23360" y="2971800"/>
            <a:ext cx="1097280" cy="0"/>
          </a:xfrm>
          <a:prstGeom prst="line">
            <a:avLst/>
          </a:prstGeom>
          <a:noFill/>
          <a:ln w="31750">
            <a:solidFill>
              <a:srgbClr val="F57F17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93192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800600"/>
            <a:ext cx="2926080" cy="2743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800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Entrada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4800600"/>
            <a:ext cx="2926080" cy="27432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4800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Saída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Positional Encoding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4630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143000"/>
            <a:ext cx="14630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5740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143000"/>
            <a:ext cx="14630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1143000"/>
            <a:ext cx="14630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1143000"/>
            <a:ext cx="14630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peixe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057400"/>
            <a:ext cx="2743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057400"/>
            <a:ext cx="27432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da Palavra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578608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cada palavra num vetor de números. Palavras similares ficam próximas no espaço vetorial.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"gato" e "felino" têm vetores parecidos.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2057400"/>
            <a:ext cx="2743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057400"/>
            <a:ext cx="2743200" cy="45720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2578608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 informação sobre a posição de cada token. Usa funções seno e cosseno para criar padrões únicos.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isso o modelo não sabe a ordem das palavras.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2057400"/>
            <a:ext cx="2743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2057400"/>
            <a:ext cx="2743200" cy="4572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Final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2578608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Posição = Representação completa.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carrega tanto seu significado quanto sua posição na frase.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99232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007608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o coração do Transformer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731520"/>
          </a:xfrm>
          <a:prstGeom prst="rect">
            <a:avLst/>
          </a:prstGeom>
          <a:solidFill>
            <a:srgbClr val="00796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Analogia: Em uma festa, cada pessoa decide a quem prestar atenção para entender o que acontece.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2286000"/>
          </a:xfrm>
          <a:prstGeom prst="rect">
            <a:avLst/>
          </a:prstGeom>
          <a:solidFill>
            <a:srgbClr val="19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01168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(Pergunta)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estou buscando?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"Quem executou a ação?"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51760" cy="2286000"/>
          </a:xfrm>
          <a:prstGeom prst="rect">
            <a:avLst/>
          </a:prstGeom>
          <a:solidFill>
            <a:srgbClr val="19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2011680"/>
            <a:ext cx="640080" cy="640080"/>
          </a:xfrm>
          <a:prstGeom prst="ellipse">
            <a:avLst/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(Chave)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posso oferecer?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 o sujeito da frase"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2651760" cy="2286000"/>
          </a:xfrm>
          <a:prstGeom prst="rect">
            <a:avLst/>
          </a:prstGeom>
          <a:solidFill>
            <a:srgbClr val="19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2011680"/>
            <a:ext cx="640080" cy="640080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(Valor)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meu conteúdo?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"Informação real do token"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297680"/>
            <a:ext cx="8503920" cy="640080"/>
          </a:xfrm>
          <a:prstGeom prst="rect">
            <a:avLst/>
          </a:prstGeom>
          <a:solidFill>
            <a:srgbClr val="19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Fórmula:  Attention(Q, K, V)  =  softmax( QKᵀ / √d )  ·  V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cabeça aprende um aspecto diferente das relações entre tokens — em paralelo.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974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K  V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sintáticas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"gato" → sujeito da frase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50876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508760"/>
            <a:ext cx="2697480" cy="5029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21608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9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K  V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55848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semânticas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3063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"comeu" → ação relacionada a "gato"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50876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508760"/>
            <a:ext cx="2697480" cy="50292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65976" y="2103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K  V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0216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locais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0216" y="3063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"o" → artigo de "peixe"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069080"/>
            <a:ext cx="5486400" cy="5943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28800" y="40690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Concatenar  +  Projeção Linear  →  Saída enriquecida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682496" y="3977640"/>
            <a:ext cx="0" cy="109728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977640"/>
            <a:ext cx="0" cy="109728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0648" y="3977640"/>
            <a:ext cx="0" cy="109728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&amp; Add+Norm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280160"/>
            <a:ext cx="137160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15200" y="1280160"/>
            <a:ext cx="0" cy="2194560"/>
          </a:xfrm>
          <a:prstGeom prst="line">
            <a:avLst/>
          </a:prstGeom>
          <a:noFill/>
          <a:ln w="25400">
            <a:solidFill>
              <a:srgbClr val="F57F1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126480" y="3474720"/>
            <a:ext cx="1188720" cy="0"/>
          </a:xfrm>
          <a:prstGeom prst="line">
            <a:avLst/>
          </a:prstGeom>
          <a:noFill/>
          <a:ln w="25400">
            <a:solidFill>
              <a:srgbClr val="F57F17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6092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(Residual)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600200"/>
            <a:ext cx="3657600" cy="54864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90195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coletam contexto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286000"/>
            <a:ext cx="3657600" cy="5486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Layer Norm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58775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atenção, normalizado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2971800"/>
            <a:ext cx="365760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27355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ReLU → Linear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3657600"/>
            <a:ext cx="3657600" cy="54864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Layer Norm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95935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a saída final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429768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do Bloco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conexão residual (skip) preserva a informação original e evita o "vanishing gradient" no treinamento.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de Modelos Transformer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108960" y="1051560"/>
            <a:ext cx="2926080" cy="59436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10515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Original (2017)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3774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3774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Encoder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RoBERTa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017520"/>
            <a:ext cx="210312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principal: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23774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828800"/>
            <a:ext cx="2377440" cy="4572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+ Decoder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T5, BART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3017520"/>
            <a:ext cx="210312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principal: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automática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Sumarização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respostas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828800"/>
            <a:ext cx="23774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Decoder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LLaMA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3017520"/>
            <a:ext cx="210312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principal: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33375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texto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código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Completação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dos Componentes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19456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310896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5000" y="1097280"/>
            <a:ext cx="3108960" cy="4114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5448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palavras em vetores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55448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para idioma numérico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121408"/>
            <a:ext cx="8503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2140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12140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 informação de posição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212140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Numerar páginas do livro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688336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68833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268833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relações entre todos os tokens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688336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numa festa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255264"/>
            <a:ext cx="8503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25526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325526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aspectos em paralelo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3255264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especialistas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382219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cada token individualmente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382219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pós-coleta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4389120"/>
            <a:ext cx="8503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38912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438912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 o treinamento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438912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 de memória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926080"/>
            <a:ext cx="3200400" cy="3200400"/>
          </a:xfrm>
          <a:prstGeom prst="ellipse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457200"/>
            <a:ext cx="1828800" cy="1828800"/>
          </a:xfrm>
          <a:prstGeom prst="ellipse">
            <a:avLst/>
          </a:prstGeom>
          <a:solidFill>
            <a:srgbClr val="00796B">
              <a:alpha val="12000"/>
            </a:srgbClr>
          </a:solidFill>
          <a:ln w="12700">
            <a:solidFill>
              <a:srgbClr val="00796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Recomendadas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Vaswani et al. (2017) — Attention is All You Need — arXiv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The Illustrated Transformer — Jay Alammar (blog)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CS224N Stanford — NLP com Deep Learning (YouTube, gratuito)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HuggingFace Transformers — pratique com modelos reais em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7772400" cy="548640"/>
          </a:xfrm>
          <a:prstGeom prst="rect">
            <a:avLst/>
          </a:prstGeom>
          <a:solidFill>
            <a:srgbClr val="00796B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992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Tarefa: instale a biblioteca HuggingFace Transformers e classifique sentimentos em português!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— dúvidas?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  ·  Fundamentos de IA  ·  2024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Transformer</dc:title>
  <dc:subject>PptxGenJS Presentation</dc:subject>
  <dc:creator>Professor de Sistemas de Informação</dc:creator>
  <cp:lastModifiedBy>Professor de Sistemas de Informação</cp:lastModifiedBy>
  <cp:revision>1</cp:revision>
  <dcterms:created xsi:type="dcterms:W3CDTF">2026-03-16T13:11:32Z</dcterms:created>
  <dcterms:modified xsi:type="dcterms:W3CDTF">2026-03-16T13:11:32Z</dcterms:modified>
</cp:coreProperties>
</file>